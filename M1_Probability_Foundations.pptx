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Play"/>
      <p:regular r:id="rId29"/>
      <p:bold r:id="rId30"/>
    </p:embeddedFont>
    <p:embeddedFont>
      <p:font typeface="Cambria Math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ytBSQzJBn1gfbu7dtpmgl0bC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mbriaMath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4" name="Google Shape;4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 amt="50000"/>
          </a:blip>
          <a:srcRect b="1194" l="0" r="0" t="42555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>
            <p:ph type="ctrTitle"/>
          </p:nvPr>
        </p:nvSpPr>
        <p:spPr>
          <a:xfrm>
            <a:off x="1524000" y="1122362"/>
            <a:ext cx="9144000" cy="2900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lang="en-PK">
                <a:solidFill>
                  <a:srgbClr val="FFFFFF"/>
                </a:solidFill>
              </a:rPr>
              <a:t>Uncertain World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524000" y="4159404"/>
            <a:ext cx="9144000" cy="1098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</a:pPr>
            <a:r>
              <a:rPr lang="en-PK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Probabilistic Decision Making: Navigating Uncertainty in the Real World</a:t>
            </a:r>
            <a:r>
              <a:rPr lang="en-PK" sz="2200">
                <a:solidFill>
                  <a:srgbClr val="FFFFFF"/>
                </a:solidFill>
              </a:rPr>
              <a:t>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</a:pPr>
            <a:r>
              <a:rPr lang="en-PK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Practical Guide for Future Innovators</a:t>
            </a:r>
            <a:r>
              <a:rPr lang="en-PK" sz="2200">
                <a:solidFill>
                  <a:srgbClr val="FFFFFF"/>
                </a:solidFill>
              </a:rPr>
              <a:t> </a:t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>
            <p:ph type="title"/>
          </p:nvPr>
        </p:nvSpPr>
        <p:spPr>
          <a:xfrm>
            <a:off x="339436" y="320201"/>
            <a:ext cx="526097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n-PK" sz="4000">
                <a:solidFill>
                  <a:schemeClr val="lt1"/>
                </a:solidFill>
              </a:rPr>
              <a:t>Improved Decision Making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339435" y="1776335"/>
            <a:ext cx="5586351" cy="47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Life is full of decisions, big and small.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Many of these decisions involve uncertainty.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i="1"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Should a company invest in a new product? Will a new drug be effective? What's the best route to take given traffic?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Traditional decision-making often relies on intuition or rules of thumb, which can be suboptimal when uncertainty is high.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Probabilistic decision making provides a </a:t>
            </a:r>
            <a:r>
              <a:rPr i="1"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r>
              <a:rPr lang="en-PK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make better, more informed choices by explicitly quantifying and managing uncertainty.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6096000" y="841376"/>
            <a:ext cx="5260976" cy="4707593"/>
            <a:chOff x="6096000" y="841376"/>
            <a:chExt cx="5260976" cy="4707593"/>
          </a:xfrm>
        </p:grpSpPr>
        <p:grpSp>
          <p:nvGrpSpPr>
            <p:cNvPr id="114" name="Google Shape;114;p2"/>
            <p:cNvGrpSpPr/>
            <p:nvPr/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6096001" y="841376"/>
                <a:ext cx="5260975" cy="4707593"/>
              </a:xfrm>
              <a:custGeom>
                <a:rect b="b" l="l" r="r" t="t"/>
                <a:pathLst>
                  <a:path extrusionOk="0" h="4707593" w="5260975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6096001" y="841376"/>
                <a:ext cx="5260975" cy="4707593"/>
              </a:xfrm>
              <a:custGeom>
                <a:rect b="b" l="l" r="r" t="t"/>
                <a:pathLst>
                  <a:path extrusionOk="0" h="4707593" w="5260975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lt1">
                  <a:alpha val="1372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2"/>
            <p:cNvGrpSpPr/>
            <p:nvPr/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6096000" y="4138312"/>
                <a:ext cx="5260975" cy="1410656"/>
              </a:xfrm>
              <a:custGeom>
                <a:rect b="b" l="l" r="r" t="t"/>
                <a:pathLst>
                  <a:path extrusionOk="0" h="1410656" w="5260975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6096000" y="4138312"/>
                <a:ext cx="5260975" cy="1410656"/>
              </a:xfrm>
              <a:custGeom>
                <a:rect b="b" l="l" r="r" t="t"/>
                <a:pathLst>
                  <a:path extrusionOk="0" h="1410656" w="5260975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rotWithShape="1">
                <a:blip r:embed="rId3">
                  <a:alphaModFix amt="57000"/>
                </a:blip>
                <a:tile algn="tl" flip="none" tx="0" sx="100000" ty="0" sy="100000"/>
              </a:blip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A robot hand touching a question mark&#10;&#10;Description automatically generated" id="120" name="Google Shape;1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1932" y="1659155"/>
            <a:ext cx="4369112" cy="2446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PK" sz="2500">
                <a:latin typeface="Arial"/>
                <a:ea typeface="Arial"/>
                <a:cs typeface="Arial"/>
                <a:sym typeface="Arial"/>
              </a:rPr>
              <a:t>Problem Description - The Challenge of Imperfect Information</a:t>
            </a:r>
            <a:r>
              <a:rPr lang="en-PK" sz="2500"/>
              <a:t> </a:t>
            </a:r>
            <a:endParaRPr sz="2500"/>
          </a:p>
        </p:txBody>
      </p:sp>
      <p:grpSp>
        <p:nvGrpSpPr>
          <p:cNvPr id="127" name="Google Shape;127;p3"/>
          <p:cNvGrpSpPr/>
          <p:nvPr/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8" name="Google Shape;128;p3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3"/>
          <p:cNvSpPr/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>
            <p:ph idx="1" type="body"/>
          </p:nvPr>
        </p:nvSpPr>
        <p:spPr>
          <a:xfrm>
            <a:off x="556853" y="2787703"/>
            <a:ext cx="4559425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PK" sz="2400">
                <a:latin typeface="Arial"/>
                <a:ea typeface="Arial"/>
                <a:cs typeface="Arial"/>
                <a:sym typeface="Arial"/>
              </a:rPr>
              <a:t>How do we make the "best" decision when we don't know exactly what will happen? How do we quantify the likelihood of different outcomes?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PK" sz="2400">
                <a:latin typeface="Arial"/>
                <a:ea typeface="Arial"/>
                <a:cs typeface="Arial"/>
                <a:sym typeface="Arial"/>
              </a:rPr>
              <a:t>Ignoring uncertainty can lead to: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>
                <a:latin typeface="Arial"/>
                <a:ea typeface="Arial"/>
                <a:cs typeface="Arial"/>
                <a:sym typeface="Arial"/>
              </a:rPr>
              <a:t>Suboptimal outcomes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>
                <a:latin typeface="Arial"/>
                <a:ea typeface="Arial"/>
                <a:cs typeface="Arial"/>
                <a:sym typeface="Arial"/>
              </a:rPr>
              <a:t>Unexpected losses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>
                <a:latin typeface="Arial"/>
                <a:ea typeface="Arial"/>
                <a:cs typeface="Arial"/>
                <a:sym typeface="Arial"/>
              </a:rPr>
              <a:t>Missed opportunities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2" name="Google Shape;132;p3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ops! Aztec Labyrinth Puzzle (200 PC ...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896" t="0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6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F6C5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>
            <p:ph type="title"/>
          </p:nvPr>
        </p:nvSpPr>
        <p:spPr>
          <a:xfrm>
            <a:off x="6597016" y="905011"/>
            <a:ext cx="4589328" cy="1889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PK" sz="4800"/>
              <a:t>Solution</a:t>
            </a:r>
            <a:endParaRPr/>
          </a:p>
        </p:txBody>
      </p:sp>
      <p:pic>
        <p:nvPicPr>
          <p:cNvPr id="145" name="Google Shape;1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807" y="1819576"/>
            <a:ext cx="5468347" cy="321008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6597016" y="2965592"/>
            <a:ext cx="4589328" cy="298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>
            <p:ph type="title"/>
          </p:nvPr>
        </p:nvSpPr>
        <p:spPr>
          <a:xfrm>
            <a:off x="211667" y="136547"/>
            <a:ext cx="5672666" cy="997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PK" sz="4000"/>
              <a:t>Solution Strategy - Steps</a:t>
            </a:r>
            <a:endParaRPr/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423334" y="1134533"/>
            <a:ext cx="4985374" cy="5520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Probabilistic decision making offers a systematic approach to tackle uncertainty.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It involves: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PK" sz="1800">
                <a:latin typeface="Arial"/>
                <a:ea typeface="Arial"/>
                <a:cs typeface="Arial"/>
                <a:sym typeface="Arial"/>
              </a:rPr>
              <a:t>Identifying variables and outcomes: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What are the factors at play? What are the possible results?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PK" sz="1800">
                <a:latin typeface="Arial"/>
                <a:ea typeface="Arial"/>
                <a:cs typeface="Arial"/>
                <a:sym typeface="Arial"/>
              </a:rPr>
              <a:t>Quantifying uncertainty: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Assigning probabilities to different events or outcomes.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PK" sz="1800">
                <a:latin typeface="Arial"/>
                <a:ea typeface="Arial"/>
                <a:cs typeface="Arial"/>
                <a:sym typeface="Arial"/>
              </a:rPr>
              <a:t>Modeling relationships: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Understanding how different variables influence each other.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PK" sz="1800">
                <a:latin typeface="Arial"/>
                <a:ea typeface="Arial"/>
                <a:cs typeface="Arial"/>
                <a:sym typeface="Arial"/>
              </a:rPr>
              <a:t>Evaluating choices: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Comparing different decision paths based on their expected outcomes and risks.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PK" sz="1800">
                <a:latin typeface="Arial"/>
                <a:ea typeface="Arial"/>
                <a:cs typeface="Arial"/>
                <a:sym typeface="Arial"/>
              </a:rPr>
              <a:t>Updating beliefs: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Incorporating new information as it becomes available.</a:t>
            </a:r>
            <a:endParaRPr sz="1800"/>
          </a:p>
        </p:txBody>
      </p:sp>
      <p:pic>
        <p:nvPicPr>
          <p:cNvPr descr="Drawings on colourful paper" id="155" name="Google Shape;155;p5"/>
          <p:cNvPicPr preferRelativeResize="0"/>
          <p:nvPr/>
        </p:nvPicPr>
        <p:blipFill rotWithShape="1">
          <a:blip r:embed="rId3">
            <a:alphaModFix/>
          </a:blip>
          <a:srcRect b="-2" l="10171" r="30428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>
            <p:ph type="title"/>
          </p:nvPr>
        </p:nvSpPr>
        <p:spPr>
          <a:xfrm>
            <a:off x="6412091" y="501651"/>
            <a:ext cx="4395340" cy="17162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lay"/>
              <a:buNone/>
            </a:pPr>
            <a:r>
              <a:rPr lang="en-PK" sz="5600"/>
              <a:t>Examples – Service Sector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79143" y="1216318"/>
            <a:ext cx="5221625" cy="442536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6392583" y="2324193"/>
            <a:ext cx="4434721" cy="123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PK" sz="2000">
                <a:solidFill>
                  <a:schemeClr val="dk1"/>
                </a:solidFill>
              </a:rPr>
              <a:t>Need to automate customer services.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PK" sz="2000">
                <a:solidFill>
                  <a:schemeClr val="dk1"/>
                </a:solidFill>
              </a:rPr>
              <a:t>What do you think the steps are?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cxnSp>
        <p:nvCxnSpPr>
          <p:cNvPr id="165" name="Google Shape;165;p6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66" name="Google Shape;166;p6"/>
          <p:cNvSpPr txBox="1"/>
          <p:nvPr/>
        </p:nvSpPr>
        <p:spPr>
          <a:xfrm>
            <a:off x="6059054" y="3688829"/>
            <a:ext cx="54325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K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expectation matrix of customers and companies provides you with an important orientation framework to set the right priorities for automation through Artificial Intelligence—and to keep customer expectations in mind! 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6032152" y="5880197"/>
            <a:ext cx="533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Technology (pros and cons of technology)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6032152" y="5352127"/>
            <a:ext cx="5211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 readiness (determine through survey)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6823877" y="569961"/>
            <a:ext cx="4491821" cy="6134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PK" sz="3200"/>
              <a:t>Why Uncertainty ?</a:t>
            </a:r>
            <a:endParaRPr/>
          </a:p>
        </p:txBody>
      </p:sp>
      <p:pic>
        <p:nvPicPr>
          <p:cNvPr descr="Abstract blurred background of department store" id="174" name="Google Shape;174;p7"/>
          <p:cNvPicPr preferRelativeResize="0"/>
          <p:nvPr/>
        </p:nvPicPr>
        <p:blipFill rotWithShape="1">
          <a:blip r:embed="rId3">
            <a:alphaModFix/>
          </a:blip>
          <a:srcRect b="-1" l="14377" r="26288" t="0"/>
          <a:stretch/>
        </p:blipFill>
        <p:spPr>
          <a:xfrm>
            <a:off x="20" y="10"/>
            <a:ext cx="6095980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7"/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76" name="Google Shape;176;p7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0">
                  <a:srgbClr val="A02B93">
                    <a:alpha val="0"/>
                  </a:srgbClr>
                </a:gs>
                <a:gs pos="19000">
                  <a:srgbClr val="A02B93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6823877" y="1705083"/>
            <a:ext cx="4491820" cy="440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PK" sz="2400"/>
              <a:t>Customers may respond vaguely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PK" sz="2400"/>
              <a:t>One may carry out sentiment anlysis to evaluate product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PK" sz="2400"/>
              <a:t>How many of the customers are promoters etc?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PK" sz="2400"/>
              <a:t>Many such quiestions may need probabilistic processing 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>
            <p:ph type="title"/>
          </p:nvPr>
        </p:nvSpPr>
        <p:spPr>
          <a:xfrm>
            <a:off x="736602" y="1788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PK"/>
              <a:t>Examples - AI in Media </a:t>
            </a:r>
            <a:endParaRPr/>
          </a:p>
        </p:txBody>
      </p:sp>
      <p:grpSp>
        <p:nvGrpSpPr>
          <p:cNvPr id="184" name="Google Shape;184;p8"/>
          <p:cNvGrpSpPr/>
          <p:nvPr/>
        </p:nvGrpSpPr>
        <p:grpSpPr>
          <a:xfrm>
            <a:off x="1189664" y="2199238"/>
            <a:ext cx="9803488" cy="3635920"/>
            <a:chOff x="351464" y="305880"/>
            <a:chExt cx="9803488" cy="3635920"/>
          </a:xfrm>
        </p:grpSpPr>
        <p:sp>
          <p:nvSpPr>
            <p:cNvPr id="185" name="Google Shape;185;p8"/>
            <p:cNvSpPr/>
            <p:nvPr/>
          </p:nvSpPr>
          <p:spPr>
            <a:xfrm>
              <a:off x="351464" y="305880"/>
              <a:ext cx="2196000" cy="2196000"/>
            </a:xfrm>
            <a:prstGeom prst="ellipse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904132" y="773877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767052" y="3221800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767052" y="3221800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PK" sz="2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 IN CORPORATE </a:t>
              </a:r>
              <a:r>
                <a:rPr lang="en-PK" sz="2200">
                  <a:solidFill>
                    <a:schemeClr val="dk1"/>
                  </a:solidFill>
                </a:rPr>
                <a:t>COMMUNICATION</a:t>
              </a:r>
              <a:endPara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7798780" y="336053"/>
              <a:ext cx="2196000" cy="2196000"/>
            </a:xfrm>
            <a:prstGeom prst="ellipse">
              <a:avLst/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8232939" y="837898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554952" y="3187938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 txBox="1"/>
            <p:nvPr/>
          </p:nvSpPr>
          <p:spPr>
            <a:xfrm>
              <a:off x="6554952" y="3187938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PK" sz="2200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TYPE OF AUTOMATION CAN BE DONE ?</a:t>
              </a:r>
              <a:endPara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I Revolution in Corporate Communications" id="193" name="Google Shape;1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8001" y="1332972"/>
            <a:ext cx="3674532" cy="36745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/>
        </p:nvSpPr>
        <p:spPr>
          <a:xfrm>
            <a:off x="4547201" y="5746176"/>
            <a:ext cx="397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K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Robotic Journalism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8839200" y="524933"/>
            <a:ext cx="28072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in expectation matrix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11118533" y="918266"/>
            <a:ext cx="706127" cy="5863534"/>
          </a:xfrm>
          <a:custGeom>
            <a:rect b="b" l="l" r="r" t="t"/>
            <a:pathLst>
              <a:path extrusionOk="0" h="2447" w="414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rgbClr val="0F48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1117879" y="643467"/>
            <a:ext cx="420307" cy="5668919"/>
          </a:xfrm>
          <a:custGeom>
            <a:rect b="b" l="l" r="r" t="t"/>
            <a:pathLst>
              <a:path extrusionOk="0" h="2358" w="209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rgbClr val="0A30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241" y="1286934"/>
            <a:ext cx="9705786" cy="44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 txBox="1"/>
          <p:nvPr/>
        </p:nvSpPr>
        <p:spPr>
          <a:xfrm>
            <a:off x="8839200" y="524933"/>
            <a:ext cx="28072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in expectation matrix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 txBox="1"/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en-PK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Video Analytics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807702" y="1733454"/>
            <a:ext cx="4572000" cy="18288"/>
          </a:xfrm>
          <a:custGeom>
            <a:rect b="b" l="l" r="r" t="t"/>
            <a:pathLst>
              <a:path extrusionOk="0" fill="none" h="18288" w="457200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57200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>
            <p:ph idx="1" type="body"/>
          </p:nvPr>
        </p:nvSpPr>
        <p:spPr>
          <a:xfrm>
            <a:off x="973285" y="2633472"/>
            <a:ext cx="10242381" cy="358635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3" name="Google Shape;213;p10"/>
          <p:cNvSpPr txBox="1"/>
          <p:nvPr/>
        </p:nvSpPr>
        <p:spPr>
          <a:xfrm>
            <a:off x="9008530" y="524933"/>
            <a:ext cx="28072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K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in expectation matrix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PK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Industrial Maintenance</a:t>
            </a:r>
            <a:endParaRPr/>
          </a:p>
        </p:txBody>
      </p:sp>
      <p:sp>
        <p:nvSpPr>
          <p:cNvPr id="220" name="Google Shape;220;p11"/>
          <p:cNvSpPr txBox="1"/>
          <p:nvPr>
            <p:ph idx="1" type="body"/>
          </p:nvPr>
        </p:nvSpPr>
        <p:spPr>
          <a:xfrm>
            <a:off x="918220" y="1675227"/>
            <a:ext cx="10355559" cy="439419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PK" sz="4000"/>
              <a:t>Modelling Uncertainty</a:t>
            </a:r>
            <a:endParaRPr/>
          </a:p>
        </p:txBody>
      </p:sp>
      <p:sp>
        <p:nvSpPr>
          <p:cNvPr id="227" name="Google Shape;227;p12"/>
          <p:cNvSpPr txBox="1"/>
          <p:nvPr>
            <p:ph idx="1" type="body"/>
          </p:nvPr>
        </p:nvSpPr>
        <p:spPr>
          <a:xfrm>
            <a:off x="773675" y="1995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Lets design probability models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What type of data is required 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Data can be categorized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Segregate data into categories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Calculate new data, if required (derived data)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Models can be developed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PK"/>
              <a:t>Can be used for predictions</a:t>
            </a:r>
            <a:endParaRPr/>
          </a:p>
        </p:txBody>
      </p:sp>
      <p:pic>
        <p:nvPicPr>
          <p:cNvPr descr="A person reaching for a paper on a table full of paper and sticky notes" id="228" name="Google Shape;228;p12"/>
          <p:cNvPicPr preferRelativeResize="0"/>
          <p:nvPr/>
        </p:nvPicPr>
        <p:blipFill rotWithShape="1">
          <a:blip r:embed="rId3">
            <a:alphaModFix/>
          </a:blip>
          <a:srcRect b="-1" l="23585" r="24578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13"/>
          <p:cNvGrpSpPr/>
          <p:nvPr/>
        </p:nvGrpSpPr>
        <p:grpSpPr>
          <a:xfrm rot="-54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236" name="Google Shape;236;p13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2A7AD0">
                  <a:alpha val="49803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3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2A7AD0">
                  <a:alpha val="49803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3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2A7AD0">
                  <a:alpha val="49803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3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2A7AD0">
                  <a:alpha val="49803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0" name="Google Shape;240;p13"/>
          <p:cNvGrpSpPr/>
          <p:nvPr/>
        </p:nvGrpSpPr>
        <p:grpSpPr>
          <a:xfrm>
            <a:off x="1" y="2075420"/>
            <a:ext cx="12396066" cy="4440643"/>
            <a:chOff x="1" y="2075420"/>
            <a:chExt cx="12396066" cy="4440643"/>
          </a:xfrm>
        </p:grpSpPr>
        <p:sp>
          <p:nvSpPr>
            <p:cNvPr id="241" name="Google Shape;241;p13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F1F1F1">
                  <a:alpha val="9803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F1F1F1">
                  <a:alpha val="20000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AEAEAE">
                    <a:alpha val="20000"/>
                  </a:srgbClr>
                </a:gs>
                <a:gs pos="100000">
                  <a:srgbClr val="747474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AEAEAE">
                    <a:alpha val="9803"/>
                  </a:srgbClr>
                </a:gs>
                <a:gs pos="100000">
                  <a:srgbClr val="AEAEAE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F1F1F1">
                  <a:alpha val="20000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F1F1F1">
                  <a:alpha val="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13"/>
          <p:cNvSpPr/>
          <p:nvPr/>
        </p:nvSpPr>
        <p:spPr>
          <a:xfrm rot="-5400000">
            <a:off x="10438146" y="1042605"/>
            <a:ext cx="2796461" cy="711252"/>
          </a:xfrm>
          <a:prstGeom prst="rect">
            <a:avLst/>
          </a:prstGeom>
          <a:gradFill>
            <a:gsLst>
              <a:gs pos="0">
                <a:srgbClr val="F5F5F5">
                  <a:alpha val="0"/>
                </a:srgbClr>
              </a:gs>
              <a:gs pos="100000">
                <a:srgbClr val="AEAEAE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13"/>
          <p:cNvGrpSpPr/>
          <p:nvPr/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9" name="Google Shape;249;p1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53" name="Google Shape;253;p13"/>
          <p:cNvSpPr/>
          <p:nvPr/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>
            <a:gsLst>
              <a:gs pos="0">
                <a:srgbClr val="747474">
                  <a:alpha val="9803"/>
                </a:srgbClr>
              </a:gs>
              <a:gs pos="10000">
                <a:srgbClr val="747474">
                  <a:alpha val="9803"/>
                </a:srgbClr>
              </a:gs>
              <a:gs pos="100000">
                <a:srgbClr val="F1F1F1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13"/>
          <p:cNvGrpSpPr/>
          <p:nvPr/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5" name="Google Shape;255;p1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1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1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1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1F1F1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59" name="Google Shape;259;p13"/>
          <p:cNvSpPr txBox="1"/>
          <p:nvPr>
            <p:ph type="title"/>
          </p:nvPr>
        </p:nvSpPr>
        <p:spPr>
          <a:xfrm>
            <a:off x="630936" y="495992"/>
            <a:ext cx="4195140" cy="5638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PK"/>
              <a:t>Data Characterization</a:t>
            </a:r>
            <a:endParaRPr/>
          </a:p>
        </p:txBody>
      </p:sp>
      <p:grpSp>
        <p:nvGrpSpPr>
          <p:cNvPr id="260" name="Google Shape;260;p13"/>
          <p:cNvGrpSpPr/>
          <p:nvPr/>
        </p:nvGrpSpPr>
        <p:grpSpPr>
          <a:xfrm>
            <a:off x="4915947" y="882049"/>
            <a:ext cx="6253721" cy="5025241"/>
            <a:chOff x="0" y="15464"/>
            <a:chExt cx="6253721" cy="5025241"/>
          </a:xfrm>
        </p:grpSpPr>
        <p:sp>
          <p:nvSpPr>
            <p:cNvPr id="261" name="Google Shape;261;p13"/>
            <p:cNvSpPr/>
            <p:nvPr/>
          </p:nvSpPr>
          <p:spPr>
            <a:xfrm>
              <a:off x="0" y="15464"/>
              <a:ext cx="6253721" cy="1154790"/>
            </a:xfrm>
            <a:prstGeom prst="roundRect">
              <a:avLst>
                <a:gd fmla="val 16667" name="adj"/>
              </a:avLst>
            </a:prstGeom>
            <a:solidFill>
              <a:srgbClr val="A0289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 txBox="1"/>
            <p:nvPr/>
          </p:nvSpPr>
          <p:spPr>
            <a:xfrm>
              <a:off x="56372" y="71836"/>
              <a:ext cx="6140977" cy="1042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Arial"/>
                <a:buNone/>
              </a:pPr>
              <a:r>
                <a:rPr lang="en-PK" sz="4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Priors</a:t>
              </a:r>
              <a:endParaRPr sz="4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0" y="1305614"/>
              <a:ext cx="6253721" cy="1154790"/>
            </a:xfrm>
            <a:prstGeom prst="roundRect">
              <a:avLst>
                <a:gd fmla="val 16667" name="adj"/>
              </a:avLst>
            </a:prstGeom>
            <a:solidFill>
              <a:srgbClr val="2A2CA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 txBox="1"/>
            <p:nvPr/>
          </p:nvSpPr>
          <p:spPr>
            <a:xfrm>
              <a:off x="56372" y="1361986"/>
              <a:ext cx="6140977" cy="1042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Arial"/>
                <a:buNone/>
              </a:pPr>
              <a:r>
                <a:rPr lang="en-PK" sz="4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Likelihoods</a:t>
              </a:r>
              <a:endParaRPr sz="4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0" y="2595764"/>
              <a:ext cx="6253721" cy="1154790"/>
            </a:xfrm>
            <a:prstGeom prst="roundRect">
              <a:avLst>
                <a:gd fmla="val 16667" name="adj"/>
              </a:avLst>
            </a:prstGeom>
            <a:solidFill>
              <a:srgbClr val="2BA49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 txBox="1"/>
            <p:nvPr/>
          </p:nvSpPr>
          <p:spPr>
            <a:xfrm>
              <a:off x="56372" y="2652136"/>
              <a:ext cx="6140977" cy="1042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Arial"/>
                <a:buNone/>
              </a:pPr>
              <a:r>
                <a:rPr lang="en-PK" sz="4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Posteriors</a:t>
              </a:r>
              <a:endParaRPr sz="4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0" y="3885915"/>
              <a:ext cx="6253721" cy="1154790"/>
            </a:xfrm>
            <a:prstGeom prst="roundRect">
              <a:avLst>
                <a:gd fmla="val 16667" name="adj"/>
              </a:avLst>
            </a:prstGeom>
            <a:solidFill>
              <a:srgbClr val="4CA62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 txBox="1"/>
            <p:nvPr/>
          </p:nvSpPr>
          <p:spPr>
            <a:xfrm>
              <a:off x="56372" y="3942287"/>
              <a:ext cx="6140977" cy="1042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Arial"/>
                <a:buNone/>
              </a:pPr>
              <a:r>
                <a:rPr lang="en-PK" sz="4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Inferencing Rules</a:t>
              </a:r>
              <a:endParaRPr sz="4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>
            <p:ph type="title"/>
          </p:nvPr>
        </p:nvSpPr>
        <p:spPr>
          <a:xfrm>
            <a:off x="389467" y="711200"/>
            <a:ext cx="3928533" cy="542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PK"/>
              <a:t>Data Characterization</a:t>
            </a:r>
            <a:endParaRPr/>
          </a:p>
        </p:txBody>
      </p:sp>
      <p:grpSp>
        <p:nvGrpSpPr>
          <p:cNvPr id="274" name="Google Shape;274;p14"/>
          <p:cNvGrpSpPr/>
          <p:nvPr/>
        </p:nvGrpSpPr>
        <p:grpSpPr>
          <a:xfrm>
            <a:off x="4605867" y="580839"/>
            <a:ext cx="7196666" cy="5839728"/>
            <a:chOff x="0" y="84847"/>
            <a:chExt cx="7196666" cy="5839728"/>
          </a:xfrm>
        </p:grpSpPr>
        <p:sp>
          <p:nvSpPr>
            <p:cNvPr id="275" name="Google Shape;275;p14"/>
            <p:cNvSpPr/>
            <p:nvPr/>
          </p:nvSpPr>
          <p:spPr>
            <a:xfrm>
              <a:off x="0" y="84847"/>
              <a:ext cx="7196666" cy="1410252"/>
            </a:xfrm>
            <a:prstGeom prst="roundRect">
              <a:avLst>
                <a:gd fmla="val 16667" name="adj"/>
              </a:avLst>
            </a:prstGeom>
            <a:solidFill>
              <a:srgbClr val="A0289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 txBox="1"/>
            <p:nvPr/>
          </p:nvSpPr>
          <p:spPr>
            <a:xfrm>
              <a:off x="68843" y="153690"/>
              <a:ext cx="7058980" cy="1272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Priors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historical ocurrence of an event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0" y="1561339"/>
              <a:ext cx="7196666" cy="1410252"/>
            </a:xfrm>
            <a:prstGeom prst="roundRect">
              <a:avLst>
                <a:gd fmla="val 16667" name="adj"/>
              </a:avLst>
            </a:prstGeom>
            <a:solidFill>
              <a:srgbClr val="2A2CA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 txBox="1"/>
            <p:nvPr/>
          </p:nvSpPr>
          <p:spPr>
            <a:xfrm>
              <a:off x="68843" y="1630182"/>
              <a:ext cx="7058980" cy="1272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Likelihoods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which event would have led to the desired output (given that output is achieved)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0" y="3037831"/>
              <a:ext cx="7196666" cy="1410252"/>
            </a:xfrm>
            <a:prstGeom prst="roundRect">
              <a:avLst>
                <a:gd fmla="val 16667" name="adj"/>
              </a:avLst>
            </a:prstGeom>
            <a:solidFill>
              <a:srgbClr val="2BA49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 txBox="1"/>
            <p:nvPr/>
          </p:nvSpPr>
          <p:spPr>
            <a:xfrm>
              <a:off x="68843" y="3106674"/>
              <a:ext cx="7058980" cy="1272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Posteriors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Possible outcomes given events have occured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0" y="4514323"/>
              <a:ext cx="7196666" cy="1410252"/>
            </a:xfrm>
            <a:prstGeom prst="roundRect">
              <a:avLst>
                <a:gd fmla="val 16667" name="adj"/>
              </a:avLst>
            </a:prstGeom>
            <a:solidFill>
              <a:srgbClr val="4CA62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 txBox="1"/>
            <p:nvPr/>
          </p:nvSpPr>
          <p:spPr>
            <a:xfrm>
              <a:off x="68843" y="4583166"/>
              <a:ext cx="7058980" cy="1272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Inferencing Rules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PK" sz="23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Relationship between priors, likelihoods, and posteriors</a:t>
              </a:r>
              <a:endParaRPr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>
            <p:ph type="title"/>
          </p:nvPr>
        </p:nvSpPr>
        <p:spPr>
          <a:xfrm>
            <a:off x="761799" y="381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lang="en-PK" sz="3700">
                <a:latin typeface="Arial"/>
                <a:ea typeface="Arial"/>
                <a:cs typeface="Arial"/>
                <a:sym typeface="Arial"/>
              </a:rPr>
              <a:t>Key Concept: Priors (Prior Probability) - Our Initial Beliefs</a:t>
            </a:r>
            <a:endParaRPr sz="3700"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761800" y="2470244"/>
            <a:ext cx="5334197" cy="4218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The prior probability of an event is our initial belief about its likelihood </a:t>
            </a:r>
            <a:r>
              <a:rPr i="1" lang="en-PK" sz="1800"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considering any new evidence or information.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It's based 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Historical data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Expert opinion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General knowledge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800">
                <a:latin typeface="Arial"/>
                <a:ea typeface="Arial"/>
                <a:cs typeface="Arial"/>
                <a:sym typeface="Arial"/>
              </a:rPr>
              <a:t>Even subjective assessment (though this should be minimized in objective analysis)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1" lang="en-PK" sz="1800">
                <a:latin typeface="Arial"/>
                <a:ea typeface="Arial"/>
                <a:cs typeface="Arial"/>
                <a:sym typeface="Arial"/>
              </a:rPr>
              <a:t>Example (Industry):</a:t>
            </a:r>
            <a:r>
              <a:rPr lang="en-PK" sz="1800">
                <a:latin typeface="Arial"/>
                <a:ea typeface="Arial"/>
                <a:cs typeface="Arial"/>
                <a:sym typeface="Arial"/>
              </a:rPr>
              <a:t> A pharmaceutical company's prior belief about the effectiveness of a new drug based on preclinical trials.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Pharmaceutical research lab" id="290" name="Google Shape;290;p15"/>
          <p:cNvPicPr preferRelativeResize="0"/>
          <p:nvPr/>
        </p:nvPicPr>
        <p:blipFill rotWithShape="1">
          <a:blip r:embed="rId3">
            <a:alphaModFix/>
          </a:blip>
          <a:srcRect b="-1" l="26041" r="15715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 txBox="1"/>
          <p:nvPr>
            <p:ph type="title"/>
          </p:nvPr>
        </p:nvSpPr>
        <p:spPr>
          <a:xfrm>
            <a:off x="838200" y="365125"/>
            <a:ext cx="10515600" cy="130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PK" sz="4000">
                <a:latin typeface="Arial"/>
                <a:ea typeface="Arial"/>
                <a:cs typeface="Arial"/>
                <a:sym typeface="Arial"/>
              </a:rPr>
              <a:t>Key Concept: Likelihood - How Well Evidence Supports a Hypothesis</a:t>
            </a:r>
            <a:endParaRPr sz="4000"/>
          </a:p>
        </p:txBody>
      </p:sp>
      <p:grpSp>
        <p:nvGrpSpPr>
          <p:cNvPr id="297" name="Google Shape;297;p16"/>
          <p:cNvGrpSpPr/>
          <p:nvPr/>
        </p:nvGrpSpPr>
        <p:grpSpPr>
          <a:xfrm>
            <a:off x="683820" y="1828490"/>
            <a:ext cx="6714744" cy="4440241"/>
            <a:chOff x="0" y="2864"/>
            <a:chExt cx="6714744" cy="4440241"/>
          </a:xfrm>
        </p:grpSpPr>
        <p:cxnSp>
          <p:nvCxnSpPr>
            <p:cNvPr id="298" name="Google Shape;298;p16"/>
            <p:cNvCxnSpPr/>
            <p:nvPr/>
          </p:nvCxnSpPr>
          <p:spPr>
            <a:xfrm>
              <a:off x="0" y="69432"/>
              <a:ext cx="6714744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9" name="Google Shape;299;p16"/>
            <p:cNvSpPr/>
            <p:nvPr/>
          </p:nvSpPr>
          <p:spPr>
            <a:xfrm>
              <a:off x="0" y="2864"/>
              <a:ext cx="6714744" cy="664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6"/>
            <p:cNvSpPr txBox="1"/>
            <p:nvPr/>
          </p:nvSpPr>
          <p:spPr>
            <a:xfrm>
              <a:off x="0" y="2864"/>
              <a:ext cx="6714744" cy="664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Definition:</a:t>
              </a:r>
              <a:r>
                <a:rPr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The likelihood of a hypothesis (or a specific state of the world) given observed evidence.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1" name="Google Shape;301;p16"/>
            <p:cNvCxnSpPr/>
            <p:nvPr/>
          </p:nvCxnSpPr>
          <p:spPr>
            <a:xfrm>
              <a:off x="0" y="667480"/>
              <a:ext cx="6714744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2" name="Google Shape;302;p16"/>
            <p:cNvSpPr/>
            <p:nvPr/>
          </p:nvSpPr>
          <p:spPr>
            <a:xfrm>
              <a:off x="0" y="667480"/>
              <a:ext cx="6714744" cy="1146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6"/>
            <p:cNvSpPr txBox="1"/>
            <p:nvPr/>
          </p:nvSpPr>
          <p:spPr>
            <a:xfrm>
              <a:off x="0" y="667480"/>
              <a:ext cx="6714744" cy="1146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 example, if we have a hypothesis H and observe evidence E, the likelihood is P(E∣H).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" name="Google Shape;304;p16"/>
            <p:cNvCxnSpPr/>
            <p:nvPr/>
          </p:nvCxnSpPr>
          <p:spPr>
            <a:xfrm>
              <a:off x="0" y="1527758"/>
              <a:ext cx="6714744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5" name="Google Shape;305;p16"/>
            <p:cNvSpPr/>
            <p:nvPr/>
          </p:nvSpPr>
          <p:spPr>
            <a:xfrm>
              <a:off x="0" y="1813707"/>
              <a:ext cx="6714744" cy="1146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0" y="1813707"/>
              <a:ext cx="6714744" cy="1146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1"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It tells us how probable the evidence is if our hypothesis is true. It is NOT the probability of the hypothesis being true.</a:t>
              </a:r>
              <a:endParaRPr b="1"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7" name="Google Shape;307;p16"/>
            <p:cNvCxnSpPr/>
            <p:nvPr/>
          </p:nvCxnSpPr>
          <p:spPr>
            <a:xfrm>
              <a:off x="0" y="2432399"/>
              <a:ext cx="6714744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8" name="Google Shape;308;p16"/>
            <p:cNvSpPr/>
            <p:nvPr/>
          </p:nvSpPr>
          <p:spPr>
            <a:xfrm>
              <a:off x="0" y="2959934"/>
              <a:ext cx="6708186" cy="1483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6"/>
            <p:cNvSpPr txBox="1"/>
            <p:nvPr/>
          </p:nvSpPr>
          <p:spPr>
            <a:xfrm>
              <a:off x="0" y="2959934"/>
              <a:ext cx="6708186" cy="1483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(Industry):</a:t>
              </a:r>
              <a:r>
                <a:rPr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 medical diagnosis, the likelihood of a positive test result </a:t>
              </a:r>
              <a:r>
                <a:rPr i="1"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given</a:t>
              </a:r>
              <a:r>
                <a:rPr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 patient actually has the disease.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n-PK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P(Positive Test∣Disease Present)</a:t>
              </a:r>
              <a:endPara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Circumstantial Evidence: Meaning ..."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944" y="1825625"/>
            <a:ext cx="4334256" cy="3604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PK" sz="3100">
                <a:latin typeface="Arial"/>
                <a:ea typeface="Arial"/>
                <a:cs typeface="Arial"/>
                <a:sym typeface="Arial"/>
              </a:rPr>
              <a:t>Key Concept: Conditional Probability - When Events Depend on Each Other</a:t>
            </a:r>
            <a:endParaRPr sz="3100"/>
          </a:p>
        </p:txBody>
      </p:sp>
      <p:sp>
        <p:nvSpPr>
          <p:cNvPr id="318" name="Google Shape;318;p17"/>
          <p:cNvSpPr txBox="1"/>
          <p:nvPr>
            <p:ph idx="1" type="body"/>
          </p:nvPr>
        </p:nvSpPr>
        <p:spPr>
          <a:xfrm>
            <a:off x="406400" y="2324912"/>
            <a:ext cx="5503333" cy="453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610"/>
              <a:buFont typeface="Noto Sans Symbols"/>
              <a:buChar char="∙"/>
            </a:pPr>
            <a:r>
              <a:rPr b="1" lang="en-PK"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 The probability of an event occurring </a:t>
            </a:r>
            <a:r>
              <a:rPr i="1" lang="en-PK">
                <a:latin typeface="Arial"/>
                <a:ea typeface="Arial"/>
                <a:cs typeface="Arial"/>
                <a:sym typeface="Arial"/>
              </a:rPr>
              <a:t>given that another event has already occurred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8610"/>
              <a:buFont typeface="Noto Sans Symbols"/>
              <a:buChar char="∙"/>
            </a:pPr>
            <a:r>
              <a:rPr lang="en-PK">
                <a:latin typeface="Arial"/>
                <a:ea typeface="Arial"/>
                <a:cs typeface="Arial"/>
                <a:sym typeface="Arial"/>
              </a:rPr>
              <a:t>Denoted as P(H</a:t>
            </a:r>
            <a:r>
              <a:rPr lang="en-PK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E), read as "the probability of H given E."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8610"/>
              <a:buFont typeface="Noto Sans Symbols"/>
              <a:buChar char="∙"/>
            </a:pPr>
            <a:r>
              <a:rPr b="1" lang="en-PK">
                <a:latin typeface="Arial"/>
                <a:ea typeface="Arial"/>
                <a:cs typeface="Arial"/>
                <a:sym typeface="Arial"/>
              </a:rPr>
              <a:t>Formula: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 P(H</a:t>
            </a:r>
            <a:r>
              <a:rPr lang="en-PK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E)=P(H∩E)/P(E)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8610"/>
              <a:buFont typeface="Noto Sans Symbols"/>
              <a:buChar char="∙"/>
            </a:pPr>
            <a:r>
              <a:rPr b="1" lang="en-PK">
                <a:latin typeface="Arial"/>
                <a:ea typeface="Arial"/>
                <a:cs typeface="Arial"/>
                <a:sym typeface="Arial"/>
              </a:rPr>
              <a:t>Example (Industry):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 The probability of a loan default </a:t>
            </a:r>
            <a:r>
              <a:rPr i="1" lang="en-PK">
                <a:latin typeface="Arial"/>
                <a:ea typeface="Arial"/>
                <a:cs typeface="Arial"/>
                <a:sym typeface="Arial"/>
              </a:rPr>
              <a:t>given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 a low credit score. P(Default</a:t>
            </a:r>
            <a:r>
              <a:rPr lang="en-PK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>
                <a:latin typeface="Arial"/>
                <a:ea typeface="Arial"/>
                <a:cs typeface="Arial"/>
                <a:sym typeface="Arial"/>
              </a:rPr>
              <a:t>Low Credit Score)</a:t>
            </a:r>
            <a:endParaRPr/>
          </a:p>
        </p:txBody>
      </p:sp>
      <p:pic>
        <p:nvPicPr>
          <p:cNvPr id="319" name="Google Shape;319;p17"/>
          <p:cNvPicPr preferRelativeResize="0"/>
          <p:nvPr/>
        </p:nvPicPr>
        <p:blipFill rotWithShape="1">
          <a:blip r:embed="rId3">
            <a:alphaModFix/>
          </a:blip>
          <a:srcRect b="0" l="17569" r="32375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8"/>
          <p:cNvPicPr preferRelativeResize="0"/>
          <p:nvPr/>
        </p:nvPicPr>
        <p:blipFill rotWithShape="1">
          <a:blip r:embed="rId3">
            <a:alphaModFix/>
          </a:blip>
          <a:srcRect b="1" l="0" r="12385" t="0"/>
          <a:stretch/>
        </p:blipFill>
        <p:spPr>
          <a:xfrm>
            <a:off x="3729228" y="10"/>
            <a:ext cx="846277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8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9000">
                <a:srgbClr val="000000">
                  <a:alpha val="37647"/>
                </a:srgbClr>
              </a:gs>
              <a:gs pos="35000">
                <a:srgbClr val="000000">
                  <a:alpha val="77647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 txBox="1"/>
          <p:nvPr>
            <p:ph type="title"/>
          </p:nvPr>
        </p:nvSpPr>
        <p:spPr>
          <a:xfrm>
            <a:off x="371093" y="1161288"/>
            <a:ext cx="5590320" cy="8521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Concept: Joint Probability - When Multiple Events Occur Together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28" name="Google Shape;328;p18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 txBox="1"/>
          <p:nvPr>
            <p:ph idx="1" type="body"/>
          </p:nvPr>
        </p:nvSpPr>
        <p:spPr>
          <a:xfrm>
            <a:off x="371093" y="2718054"/>
            <a:ext cx="7727878" cy="3889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probability of two or more events occurring simultaneously.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Denoted as P(A∩B) or P(A,B).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Formula (for independent events):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P(A∩B)=P(A)</a:t>
            </a:r>
            <a:r>
              <a:rPr lang="en-PK" sz="24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∗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P(B)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Formula (for dependent events):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P(A∩B)=P(A</a:t>
            </a:r>
            <a:r>
              <a:rPr lang="en-PK" sz="24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B)</a:t>
            </a:r>
            <a:r>
              <a:rPr lang="en-PK" sz="24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∗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P(B)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 (Industry):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probability that a customer buys Product A </a:t>
            </a:r>
            <a:r>
              <a:rPr i="1"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PK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Product B. P(Buy A∩Buy B)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/>
          <p:nvPr>
            <p:ph type="title"/>
          </p:nvPr>
        </p:nvSpPr>
        <p:spPr>
          <a:xfrm>
            <a:off x="233226" y="160863"/>
            <a:ext cx="11958774" cy="7891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PK" sz="3000">
                <a:latin typeface="Arial"/>
                <a:ea typeface="Arial"/>
                <a:cs typeface="Arial"/>
                <a:sym typeface="Arial"/>
              </a:rPr>
              <a:t>The Power of Bayes' Theorem: Updating Our Beliefs with New Evidence</a:t>
            </a:r>
            <a:endParaRPr sz="3000"/>
          </a:p>
        </p:txBody>
      </p:sp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351760" y="1104405"/>
            <a:ext cx="5744240" cy="5160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Bayes' Theorem is the cornerstone of probabilistic decision making, especially in dynamic environments.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It allows us to update our prior beliefs (priors) about an event after observing new evidence.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n-PK" sz="1600">
                <a:latin typeface="Arial"/>
                <a:ea typeface="Arial"/>
                <a:cs typeface="Arial"/>
                <a:sym typeface="Arial"/>
              </a:rPr>
              <a:t>Formula:</a:t>
            </a:r>
            <a:r>
              <a:rPr lang="en-PK" sz="16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PK" sz="1600">
                <a:latin typeface="Arial"/>
                <a:ea typeface="Arial"/>
                <a:cs typeface="Arial"/>
                <a:sym typeface="Arial"/>
              </a:rPr>
              <a:t>P(H</a:t>
            </a:r>
            <a:r>
              <a:rPr b="1" lang="en-PK" sz="16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b="1" lang="en-PK" sz="1600">
                <a:latin typeface="Arial"/>
                <a:ea typeface="Arial"/>
                <a:cs typeface="Arial"/>
                <a:sym typeface="Arial"/>
              </a:rPr>
              <a:t>E)= P(E</a:t>
            </a:r>
            <a:r>
              <a:rPr b="1" lang="en-PK" sz="16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b="1" lang="en-PK" sz="1600">
                <a:latin typeface="Arial"/>
                <a:ea typeface="Arial"/>
                <a:cs typeface="Arial"/>
                <a:sym typeface="Arial"/>
              </a:rPr>
              <a:t>H) </a:t>
            </a:r>
            <a:r>
              <a:rPr b="1" lang="en-PK" sz="1600">
                <a:latin typeface="Cambria Math"/>
                <a:ea typeface="Cambria Math"/>
                <a:cs typeface="Cambria Math"/>
                <a:sym typeface="Cambria Math"/>
              </a:rPr>
              <a:t>∗ </a:t>
            </a:r>
            <a:r>
              <a:rPr b="1" lang="en-PK" sz="1600">
                <a:latin typeface="Arial"/>
                <a:ea typeface="Arial"/>
                <a:cs typeface="Arial"/>
                <a:sym typeface="Arial"/>
              </a:rPr>
              <a:t>P(H) ​ /  P(E)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Where: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P(H</a:t>
            </a:r>
            <a:r>
              <a:rPr lang="en-PK" sz="16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 sz="1600">
                <a:latin typeface="Arial"/>
                <a:ea typeface="Arial"/>
                <a:cs typeface="Arial"/>
                <a:sym typeface="Arial"/>
              </a:rPr>
              <a:t>E): Posterior Probability (the updated probability of our hypothesis given the evidence)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P(E</a:t>
            </a:r>
            <a:r>
              <a:rPr lang="en-PK" sz="16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 sz="1600">
                <a:latin typeface="Arial"/>
                <a:ea typeface="Arial"/>
                <a:cs typeface="Arial"/>
                <a:sym typeface="Arial"/>
              </a:rPr>
              <a:t>H): Likelihood (the probability of the evidence given our hypothesis)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P(H): Prior Probability (our initial belief about the hypothesis)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lang="en-PK" sz="1600">
                <a:latin typeface="Arial"/>
                <a:ea typeface="Arial"/>
                <a:cs typeface="Arial"/>
                <a:sym typeface="Arial"/>
              </a:rPr>
              <a:t>P(E): Marginal Likelihood (the probability of observing the evidence, which acts as a normalizing constant)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id="337" name="Google Shape;3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43793"/>
            <a:ext cx="6096000" cy="37526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19"/>
          <p:cNvGrpSpPr/>
          <p:nvPr/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39" name="Google Shape;339;p19"/>
            <p:cNvSpPr/>
            <p:nvPr/>
          </p:nvSpPr>
          <p:spPr>
            <a:xfrm flipH="1" rot="5400000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9"/>
            <p:cNvSpPr/>
            <p:nvPr/>
          </p:nvSpPr>
          <p:spPr>
            <a:xfrm rot="-54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0">
                  <a:srgbClr val="A02B93">
                    <a:alpha val="0"/>
                  </a:srgbClr>
                </a:gs>
                <a:gs pos="19000">
                  <a:srgbClr val="A02B93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 txBox="1"/>
          <p:nvPr>
            <p:ph type="title"/>
          </p:nvPr>
        </p:nvSpPr>
        <p:spPr>
          <a:xfrm>
            <a:off x="113436" y="162560"/>
            <a:ext cx="6570132" cy="153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PK" sz="3700">
                <a:latin typeface="Arial"/>
                <a:ea typeface="Arial"/>
                <a:cs typeface="Arial"/>
                <a:sym typeface="Arial"/>
              </a:rPr>
              <a:t>Real-World Example: </a:t>
            </a:r>
            <a:br>
              <a:rPr lang="en-PK" sz="3700">
                <a:latin typeface="Arial"/>
                <a:ea typeface="Arial"/>
                <a:cs typeface="Arial"/>
                <a:sym typeface="Arial"/>
              </a:rPr>
            </a:br>
            <a:r>
              <a:rPr lang="en-PK" sz="3700">
                <a:latin typeface="Arial"/>
                <a:ea typeface="Arial"/>
                <a:cs typeface="Arial"/>
                <a:sym typeface="Arial"/>
              </a:rPr>
              <a:t>Medical Diagnosis - Diagnosing Disease with Data</a:t>
            </a:r>
            <a:endParaRPr sz="3700"/>
          </a:p>
        </p:txBody>
      </p:sp>
      <p:pic>
        <p:nvPicPr>
          <p:cNvPr id="348" name="Google Shape;348;p20"/>
          <p:cNvPicPr preferRelativeResize="0"/>
          <p:nvPr/>
        </p:nvPicPr>
        <p:blipFill rotWithShape="1">
          <a:blip r:embed="rId3">
            <a:alphaModFix/>
          </a:blip>
          <a:srcRect b="-2" l="2764" r="1011" t="0"/>
          <a:stretch/>
        </p:blipFill>
        <p:spPr>
          <a:xfrm>
            <a:off x="1" y="3105151"/>
            <a:ext cx="6448424" cy="3752849"/>
          </a:xfrm>
          <a:custGeom>
            <a:rect b="b" l="l" r="r" t="t"/>
            <a:pathLst>
              <a:path extrusionOk="0" h="3752849" w="6448424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49" name="Google Shape;349;p20"/>
          <p:cNvSpPr txBox="1"/>
          <p:nvPr>
            <p:ph idx="1" type="body"/>
          </p:nvPr>
        </p:nvSpPr>
        <p:spPr>
          <a:xfrm>
            <a:off x="6265333" y="162560"/>
            <a:ext cx="5813231" cy="66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Char char="∙"/>
            </a:pPr>
            <a:r>
              <a:rPr b="1" lang="en-PK" sz="2000"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 A patient presents with symptoms. Does the patient have a rare disease?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Char char="∙"/>
            </a:pPr>
            <a:r>
              <a:rPr b="1" lang="en-PK" sz="2000">
                <a:latin typeface="Arial"/>
                <a:ea typeface="Arial"/>
                <a:cs typeface="Arial"/>
                <a:sym typeface="Arial"/>
              </a:rPr>
              <a:t>Priors: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54054"/>
              <a:buNone/>
            </a:pPr>
            <a:r>
              <a:rPr lang="en-PK" sz="2000">
                <a:latin typeface="Arial"/>
                <a:ea typeface="Arial"/>
                <a:cs typeface="Arial"/>
                <a:sym typeface="Arial"/>
              </a:rPr>
              <a:t>P(Disease):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54054"/>
              <a:buNone/>
            </a:pPr>
            <a:r>
              <a:rPr lang="en-PK" sz="2000">
                <a:latin typeface="Arial"/>
                <a:ea typeface="Arial"/>
                <a:cs typeface="Arial"/>
                <a:sym typeface="Arial"/>
              </a:rPr>
              <a:t>The general prevalence of the disease in the population (e.g., 0.01% for a rare disease).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Char char="∙"/>
            </a:pPr>
            <a:r>
              <a:rPr b="1" lang="en-PK" sz="2000">
                <a:latin typeface="Arial"/>
                <a:ea typeface="Arial"/>
                <a:cs typeface="Arial"/>
                <a:sym typeface="Arial"/>
              </a:rPr>
              <a:t>Evidence: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 A medical test result (Positive or Negative).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Char char="∙"/>
            </a:pPr>
            <a:r>
              <a:rPr b="1" lang="en-PK" sz="2000">
                <a:latin typeface="Arial"/>
                <a:ea typeface="Arial"/>
                <a:cs typeface="Arial"/>
                <a:sym typeface="Arial"/>
              </a:rPr>
              <a:t>Likelihoods: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Courier New"/>
              <a:buChar char="o"/>
            </a:pPr>
            <a:r>
              <a:rPr lang="en-PK" sz="2000">
                <a:latin typeface="Arial"/>
                <a:ea typeface="Arial"/>
                <a:cs typeface="Arial"/>
                <a:sym typeface="Arial"/>
              </a:rPr>
              <a:t>P(Positive Test</a:t>
            </a:r>
            <a:r>
              <a:rPr lang="en-PK" sz="20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Disease): Sensitivity of the test (e.g., 99%).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Courier New"/>
              <a:buChar char="o"/>
            </a:pPr>
            <a:r>
              <a:rPr lang="en-PK" sz="2000">
                <a:latin typeface="Arial"/>
                <a:ea typeface="Arial"/>
                <a:cs typeface="Arial"/>
                <a:sym typeface="Arial"/>
              </a:rPr>
              <a:t>P(Negative Test</a:t>
            </a:r>
            <a:r>
              <a:rPr lang="en-PK" sz="20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No Disease): Specificity of the test (e.g., 95%).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Char char="∙"/>
            </a:pPr>
            <a:r>
              <a:rPr b="1" lang="en-PK" sz="2000"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 Calculate P(Disease</a:t>
            </a:r>
            <a:r>
              <a:rPr lang="en-PK" sz="2000">
                <a:latin typeface="Cambria Math"/>
                <a:ea typeface="Cambria Math"/>
                <a:cs typeface="Cambria Math"/>
                <a:sym typeface="Cambria Math"/>
              </a:rPr>
              <a:t>∣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Positive Test) (the probability the patient actually has the disease given a positive test).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4054"/>
              <a:buFont typeface="Noto Sans Symbols"/>
              <a:buChar char="∙"/>
            </a:pPr>
            <a:r>
              <a:rPr b="1" lang="en-PK" sz="2000">
                <a:latin typeface="Arial"/>
                <a:ea typeface="Arial"/>
                <a:cs typeface="Arial"/>
                <a:sym typeface="Arial"/>
              </a:rPr>
              <a:t>Why it's important:</a:t>
            </a:r>
            <a:r>
              <a:rPr lang="en-PK" sz="2000">
                <a:latin typeface="Arial"/>
                <a:ea typeface="Arial"/>
                <a:cs typeface="Arial"/>
                <a:sym typeface="Arial"/>
              </a:rPr>
              <a:t> Prevents misdiagnosis, unnecessary treatment, and provides accurate patient information.</a:t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 txBox="1"/>
          <p:nvPr>
            <p:ph type="title"/>
          </p:nvPr>
        </p:nvSpPr>
        <p:spPr>
          <a:xfrm>
            <a:off x="513995" y="4446222"/>
            <a:ext cx="4786138" cy="166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PK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Real-World Example: Predictive Maintenance in Manufacturing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descr="How Predictive Maintenance Is ..." id="356" name="Google Shape;3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25" y="1100667"/>
            <a:ext cx="6290958" cy="307688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/>
          <p:nvPr/>
        </p:nvSpPr>
        <p:spPr>
          <a:xfrm>
            <a:off x="7416208" y="0"/>
            <a:ext cx="4775791" cy="6857999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 txBox="1"/>
          <p:nvPr>
            <p:ph idx="1" type="body"/>
          </p:nvPr>
        </p:nvSpPr>
        <p:spPr>
          <a:xfrm>
            <a:off x="6593956" y="0"/>
            <a:ext cx="5598043" cy="6857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60"/>
              <a:buFont typeface="Noto Sans Symbols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When will a machine part fail? How can we prevent unexpected downtime?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Machine 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Operating Hours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Vibration Readings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Temperature Readings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Maintenance History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 Failure (Yes/No)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Probabilistic Approach: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Collect data on all these variables for many machines.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Build a model (e.g., a Bayesian Network) that learns the probabilistic relationships between these factors and part failure.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6006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Based on current sensor readings and historical data, predict the probability of imminent failure for a specific machine. Schedule maintenance proactively.</a:t>
            </a:r>
            <a:endParaRPr/>
          </a:p>
          <a:p>
            <a:pPr indent="-122872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234" y="3782721"/>
            <a:ext cx="3634674" cy="23967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2"/>
          <p:cNvGrpSpPr/>
          <p:nvPr/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366" name="Google Shape;366;p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29803"/>
              </a:schemeClr>
            </a:solidFill>
            <a:ln cap="flat" cmpd="sng" w="2857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22"/>
          <p:cNvSpPr/>
          <p:nvPr/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 txBox="1"/>
          <p:nvPr>
            <p:ph type="title"/>
          </p:nvPr>
        </p:nvSpPr>
        <p:spPr>
          <a:xfrm>
            <a:off x="740584" y="859808"/>
            <a:ext cx="3543197" cy="2878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None/>
            </a:pPr>
            <a:r>
              <a:rPr lang="en-PK" sz="3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Real-World Example: Financial Risk Assessment - Lending Decisions</a:t>
            </a:r>
            <a:br>
              <a:rPr lang="en-PK" sz="3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100">
              <a:solidFill>
                <a:schemeClr val="lt1"/>
              </a:solidFill>
            </a:endParaRPr>
          </a:p>
        </p:txBody>
      </p:sp>
      <p:grpSp>
        <p:nvGrpSpPr>
          <p:cNvPr id="370" name="Google Shape;370;p22"/>
          <p:cNvGrpSpPr/>
          <p:nvPr/>
        </p:nvGrpSpPr>
        <p:grpSpPr>
          <a:xfrm>
            <a:off x="4689048" y="2335801"/>
            <a:ext cx="849365" cy="849366"/>
            <a:chOff x="5829300" y="3162300"/>
            <a:chExt cx="532256" cy="532257"/>
          </a:xfrm>
        </p:grpSpPr>
        <p:sp>
          <p:nvSpPr>
            <p:cNvPr id="371" name="Google Shape;371;p22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4" name="Google Shape;384;p22"/>
          <p:cNvGrpSpPr/>
          <p:nvPr/>
        </p:nvGrpSpPr>
        <p:grpSpPr>
          <a:xfrm>
            <a:off x="4689048" y="2335801"/>
            <a:ext cx="849365" cy="849366"/>
            <a:chOff x="5829300" y="3162300"/>
            <a:chExt cx="532256" cy="532257"/>
          </a:xfrm>
        </p:grpSpPr>
        <p:sp>
          <p:nvSpPr>
            <p:cNvPr id="385" name="Google Shape;385;p22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22"/>
          <p:cNvSpPr txBox="1"/>
          <p:nvPr>
            <p:ph idx="1" type="body"/>
          </p:nvPr>
        </p:nvSpPr>
        <p:spPr>
          <a:xfrm>
            <a:off x="5677948" y="1"/>
            <a:ext cx="65140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Should a bank approve a loan application? What is the probability of default?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Applicant's Credit Score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Income Level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Employment History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Debt-to-Income Ratio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Past Payment History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Economic Indicators (GDP growth, policy rates)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Loan Default (Yes/No)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Probabilistic Approach: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historical loan data to build models that predict default probability.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ourier New"/>
              <a:buChar char="o"/>
            </a:pP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Bayesian Networks or other probabilistic models can be used to assess the complex interplay of these factors.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∙"/>
            </a:pPr>
            <a:r>
              <a:rPr b="1"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r>
              <a:rPr lang="en-PK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Approve or deny the loan, or adjust loan rates based on the calculated probability of default.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 flipH="1" rot="10800000">
            <a:off x="441959" y="-3"/>
            <a:ext cx="11772269" cy="6868074"/>
          </a:xfrm>
          <a:prstGeom prst="rect">
            <a:avLst/>
          </a:prstGeom>
          <a:gradFill>
            <a:gsLst>
              <a:gs pos="0">
                <a:srgbClr val="0A3041">
                  <a:alpha val="82745"/>
                </a:srgbClr>
              </a:gs>
              <a:gs pos="21000">
                <a:srgbClr val="0A3041">
                  <a:alpha val="82745"/>
                </a:srgbClr>
              </a:gs>
              <a:gs pos="100000">
                <a:srgbClr val="15608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3"/>
          <p:cNvSpPr/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/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72941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"/>
          <p:cNvSpPr/>
          <p:nvPr/>
        </p:nvSpPr>
        <p:spPr>
          <a:xfrm flipH="1" rot="5400000">
            <a:off x="4484334" y="-861824"/>
            <a:ext cx="6861931" cy="8597859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26666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/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rgbClr val="156082">
                  <a:alpha val="25882"/>
                </a:srgbClr>
              </a:gs>
              <a:gs pos="85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3"/>
          <p:cNvSpPr txBox="1"/>
          <p:nvPr>
            <p:ph type="title"/>
          </p:nvPr>
        </p:nvSpPr>
        <p:spPr>
          <a:xfrm>
            <a:off x="692784" y="404555"/>
            <a:ext cx="6714699" cy="3178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en-PK" sz="4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Brain Storming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3"/>
          <p:cNvSpPr txBox="1"/>
          <p:nvPr>
            <p:ph idx="1" type="body"/>
          </p:nvPr>
        </p:nvSpPr>
        <p:spPr>
          <a:xfrm>
            <a:off x="2317283" y="4576161"/>
            <a:ext cx="7055893" cy="1078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PK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NLP application that generate text based on simple queries ?</a:t>
            </a:r>
            <a:endParaRPr/>
          </a:p>
        </p:txBody>
      </p:sp>
      <p:pic>
        <p:nvPicPr>
          <p:cNvPr id="413" name="Google Shape;4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3566" y="224501"/>
            <a:ext cx="6728081" cy="3538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2025-06-29T15:36:03Z</dcterms:created>
  <dc:creator>Mian Muhammad Awais</dc:creator>
</cp:coreProperties>
</file>